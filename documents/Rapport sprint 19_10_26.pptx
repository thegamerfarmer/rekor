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5143500" cx="9144000"/>
  <p:notesSz cx="6858000" cy="9144000"/>
  <p:embeddedFontLst>
    <p:embeddedFont>
      <p:font typeface="Raleway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  <p:embeddedFont>
      <p:font typeface="Poppi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8627C7D-B24F-41CF-9DDD-F29955B0735E}">
  <a:tblStyle styleId="{08627C7D-B24F-41CF-9DDD-F29955B0735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22" Type="http://schemas.openxmlformats.org/officeDocument/2006/relationships/font" Target="fonts/Lato-regular.fntdata"/><Relationship Id="rId21" Type="http://schemas.openxmlformats.org/officeDocument/2006/relationships/font" Target="fonts/Raleway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Poppins-regular.fntdata"/><Relationship Id="rId25" Type="http://schemas.openxmlformats.org/officeDocument/2006/relationships/font" Target="fonts/Lato-boldItalic.fntdata"/><Relationship Id="rId28" Type="http://schemas.openxmlformats.org/officeDocument/2006/relationships/font" Target="fonts/Poppins-italic.fntdata"/><Relationship Id="rId27" Type="http://schemas.openxmlformats.org/officeDocument/2006/relationships/font" Target="fonts/Poppins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Poppins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font" Target="fonts/Raleway-bold.fntdata"/><Relationship Id="rId1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c6fa3c898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c6fa3c8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c6fa3c898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c6fa3c89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c6fa3c898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c6fa3c89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hc095ee6b679b761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hc095ee6b679b7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BPMN inscription et match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hc095ee6b679b761_0_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hc095ee6b679b76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Plan de test : inscription, gestion de compte, site vitrine, calendriers et </a:t>
            </a:r>
            <a:r>
              <a:rPr lang="fr"/>
              <a:t>présences</a:t>
            </a:r>
            <a:r>
              <a:rPr lang="fr"/>
              <a:t>, </a:t>
            </a:r>
            <a:r>
              <a:rPr lang="fr"/>
              <a:t>évènements</a:t>
            </a:r>
            <a:r>
              <a:rPr lang="fr"/>
              <a:t>, sélection et </a:t>
            </a:r>
            <a:r>
              <a:rPr lang="fr"/>
              <a:t>composition</a:t>
            </a:r>
            <a:r>
              <a:rPr lang="fr"/>
              <a:t> d’un match, groupes, messagerie, notifications, arbitrage, stats, tournois, administration, gestion des </a:t>
            </a:r>
            <a:r>
              <a:rPr lang="fr"/>
              <a:t>rôles</a:t>
            </a:r>
            <a:r>
              <a:rPr lang="fr"/>
              <a:t>, actualité, gestion des équipes, document, gestion financiere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hc095ee6b679b761_0_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hc095ee6b679b76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hc095ee6b679b761_0_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hc095ee6b679b76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Modifs à faire pour le rendre plus généralisable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hc311441dbb10f1f_5_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hc311441dbb10f1f_5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hc311441dbb10f1f_5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hc311441dbb10f1f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c6fa3c898_0_6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c6fa3c898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FFAF13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Google Shape;73;p1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" name="Google Shape;74;p1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" name="Google Shape;75;p1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14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4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FFAF13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Google Shape;80;p15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" name="Google Shape;81;p15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15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" name="Google Shape;85;p16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" name="Google Shape;86;p16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" name="Google Shape;87;p16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p1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0" name="Google Shape;90;p1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7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" name="Google Shape;93;p17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" name="Google Shape;94;p1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1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7" name="Google Shape;97;p17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8" name="Google Shape;98;p1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Google Shape;103;p19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19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" name="Google Shape;108;p2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" name="Google Shape;109;p20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rgbClr val="2355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3" name="Google Shape;113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p21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AF13"/>
              </a:buClr>
              <a:buSzPts val="3600"/>
              <a:buNone/>
              <a:defRPr sz="3600">
                <a:solidFill>
                  <a:srgbClr val="FFAF1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5" name="Google Shape;115;p21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6" name="Google Shape;116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9" name="Google Shape;119;p22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" name="Google Shape;120;p2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4" name="Google Shape;124;p2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5" name="Google Shape;125;p2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p23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AF13"/>
              </a:buClr>
              <a:buSzPts val="9600"/>
              <a:buFont typeface="Lato"/>
              <a:buNone/>
              <a:defRPr sz="9600">
                <a:solidFill>
                  <a:srgbClr val="FFAF1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AF13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ctrTitle"/>
          </p:nvPr>
        </p:nvSpPr>
        <p:spPr>
          <a:xfrm>
            <a:off x="2371725" y="630225"/>
            <a:ext cx="6331500" cy="16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Poppins"/>
                <a:ea typeface="Poppins"/>
                <a:cs typeface="Poppins"/>
                <a:sym typeface="Poppins"/>
              </a:rPr>
              <a:t>Rapport de progression</a:t>
            </a:r>
            <a:br>
              <a:rPr lang="fr"/>
            </a:br>
            <a:endParaRPr/>
          </a:p>
        </p:txBody>
      </p:sp>
      <p:sp>
        <p:nvSpPr>
          <p:cNvPr id="136" name="Google Shape;136;p25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latin typeface="Poppins"/>
                <a:ea typeface="Poppins"/>
                <a:cs typeface="Poppins"/>
                <a:sym typeface="Poppins"/>
              </a:rPr>
              <a:t>Timothée Dagand • Emma Dhoury • Kyllian Botrel • Yvan Giordano • Raphaël Matheret • Célia Moulin • Marion Pacaud • Sarah Sekma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Poppins"/>
                <a:ea typeface="Poppins"/>
                <a:cs typeface="Poppins"/>
                <a:sym typeface="Poppins"/>
              </a:rPr>
              <a:t>19/10</a:t>
            </a:r>
            <a:r>
              <a:rPr lang="fr">
                <a:latin typeface="Poppins"/>
                <a:ea typeface="Poppins"/>
                <a:cs typeface="Poppins"/>
                <a:sym typeface="Poppins"/>
              </a:rPr>
              <a:t>/2026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294975" y="1912650"/>
            <a:ext cx="4045200" cy="131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AF13"/>
                </a:solidFill>
                <a:latin typeface="Poppins"/>
                <a:ea typeface="Poppins"/>
                <a:cs typeface="Poppins"/>
                <a:sym typeface="Poppins"/>
              </a:rPr>
              <a:t>Vue d'ensemble</a:t>
            </a:r>
            <a:endParaRPr>
              <a:solidFill>
                <a:srgbClr val="FFAF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2" name="Google Shape;142;p2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latin typeface="Poppins"/>
                <a:ea typeface="Poppins"/>
                <a:cs typeface="Poppins"/>
                <a:sym typeface="Poppins"/>
              </a:rPr>
              <a:t>Dernières avancées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Poppins"/>
              <a:buChar char="●"/>
            </a:pPr>
            <a:r>
              <a:rPr lang="fr" sz="1500">
                <a:latin typeface="Poppins"/>
                <a:ea typeface="Poppins"/>
                <a:cs typeface="Poppins"/>
                <a:sym typeface="Poppins"/>
              </a:rPr>
              <a:t>Cas d’utilisation 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Poppins"/>
              <a:buChar char="●"/>
            </a:pPr>
            <a:r>
              <a:rPr lang="fr" sz="1500">
                <a:latin typeface="Poppins"/>
                <a:ea typeface="Poppins"/>
                <a:cs typeface="Poppins"/>
                <a:sym typeface="Poppins"/>
              </a:rPr>
              <a:t>BPMN covoiturage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Poppins"/>
              <a:buChar char="●"/>
            </a:pPr>
            <a:r>
              <a:rPr lang="fr" sz="1500">
                <a:latin typeface="Poppins"/>
                <a:ea typeface="Poppins"/>
                <a:cs typeface="Poppins"/>
                <a:sym typeface="Poppins"/>
              </a:rPr>
              <a:t>Plans de tests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Poppins"/>
              <a:buChar char="●"/>
            </a:pPr>
            <a:r>
              <a:rPr lang="fr" sz="1500">
                <a:latin typeface="Poppins"/>
                <a:ea typeface="Poppins"/>
                <a:cs typeface="Poppins"/>
                <a:sym typeface="Poppins"/>
              </a:rPr>
              <a:t>Mise en place de tests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Poppins"/>
              <a:buChar char="●"/>
            </a:pPr>
            <a:r>
              <a:rPr lang="fr" sz="1500">
                <a:latin typeface="Poppins"/>
                <a:ea typeface="Poppins"/>
                <a:cs typeface="Poppins"/>
                <a:sym typeface="Poppins"/>
              </a:rPr>
              <a:t>MCD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Poppins"/>
              <a:buChar char="●"/>
            </a:pPr>
            <a:r>
              <a:rPr lang="fr" sz="1500">
                <a:latin typeface="Poppins"/>
                <a:ea typeface="Poppins"/>
                <a:cs typeface="Poppins"/>
                <a:sym typeface="Poppins"/>
              </a:rPr>
              <a:t>Maquettes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Poppins"/>
                <a:ea typeface="Poppins"/>
                <a:cs typeface="Poppins"/>
                <a:sym typeface="Poppins"/>
              </a:rPr>
              <a:t>Cas d’utilisation 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359099" y="1337400"/>
            <a:ext cx="3944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100">
                <a:solidFill>
                  <a:srgbClr val="FFAF13"/>
                </a:solidFill>
                <a:latin typeface="Poppins"/>
                <a:ea typeface="Poppins"/>
                <a:cs typeface="Poppins"/>
                <a:sym typeface="Poppins"/>
              </a:rPr>
              <a:t>Réalisations :</a:t>
            </a:r>
            <a:endParaRPr b="1" sz="2100">
              <a:solidFill>
                <a:srgbClr val="FFAF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fr" sz="1600">
                <a:latin typeface="Poppins"/>
                <a:ea typeface="Poppins"/>
                <a:cs typeface="Poppins"/>
                <a:sym typeface="Poppins"/>
              </a:rPr>
              <a:t>Gestion de compte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fr" sz="1600">
                <a:latin typeface="Poppins"/>
                <a:ea typeface="Poppins"/>
                <a:cs typeface="Poppins"/>
                <a:sym typeface="Poppins"/>
              </a:rPr>
              <a:t>Application web - site vitrine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fr" sz="1600">
                <a:latin typeface="Poppins"/>
                <a:ea typeface="Poppins"/>
                <a:cs typeface="Poppins"/>
                <a:sym typeface="Poppins"/>
              </a:rPr>
              <a:t>Application web - administration 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fr" sz="1600">
                <a:latin typeface="Poppins"/>
                <a:ea typeface="Poppins"/>
                <a:cs typeface="Poppins"/>
                <a:sym typeface="Poppins"/>
              </a:rPr>
              <a:t>Application mobile - mode arbitre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fr" sz="1600">
                <a:latin typeface="Poppins"/>
                <a:ea typeface="Poppins"/>
                <a:cs typeface="Poppins"/>
                <a:sym typeface="Poppins"/>
              </a:rPr>
              <a:t>Application mobile - mode covoiturage 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fr" sz="1600">
                <a:latin typeface="Poppins"/>
                <a:ea typeface="Poppins"/>
                <a:cs typeface="Poppins"/>
                <a:sym typeface="Poppins"/>
              </a:rPr>
              <a:t>Application mobile - organisation sportive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9" name="Google Shape;14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4550" y="1174550"/>
            <a:ext cx="3880750" cy="347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Poppins"/>
                <a:ea typeface="Poppins"/>
                <a:cs typeface="Poppins"/>
                <a:sym typeface="Poppins"/>
              </a:rPr>
              <a:t>BPMN covoiturage 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5" name="Google Shape;15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0900" y="1503050"/>
            <a:ext cx="7352500" cy="254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Poppins"/>
                <a:ea typeface="Poppins"/>
                <a:cs typeface="Poppins"/>
                <a:sym typeface="Poppins"/>
              </a:rPr>
              <a:t>Plans de tests - Covoiturage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161" name="Google Shape;161;p29"/>
          <p:cNvGraphicFramePr/>
          <p:nvPr/>
        </p:nvGraphicFramePr>
        <p:xfrm>
          <a:off x="462950" y="123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{08627C7D-B24F-41CF-9DDD-F29955B0735E}</a:tableStyleId>
              </a:tblPr>
              <a:tblGrid>
                <a:gridCol w="706600"/>
                <a:gridCol w="2092450"/>
                <a:gridCol w="3119750"/>
                <a:gridCol w="2340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/>
                        <a:t>ID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/>
                        <a:t>Précondition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/>
                        <a:t>Action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/>
                        <a:t>Résultat attendu 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/>
                        <a:t>TD67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/>
                        <a:t>Interface d’un membre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/>
                        <a:t>Consultation du covoiturage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/>
                        <a:t>La liste des offres de covoiturage disponibles s'affiche à l'écran.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788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fr" sz="800">
                          <a:solidFill>
                            <a:schemeClr val="dk2"/>
                          </a:solidFill>
                        </a:rPr>
                        <a:t>TD68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/>
                        <a:t>Interface d’un membre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/>
                        <a:t>Mauvais remplissage du formulaire et proposition du covoiturage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/>
                        <a:t>Message d’erreur et champs à problèmes en rouge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fr" sz="800">
                          <a:solidFill>
                            <a:schemeClr val="dk2"/>
                          </a:solidFill>
                        </a:rPr>
                        <a:t>TD69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/>
                        <a:t>Interface d’un membre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/>
                        <a:t>Bon remplissage du formulaire et proposition du covoiturage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/>
                        <a:t>Mise à jour de la liste du covoiturage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fr" sz="800">
                          <a:solidFill>
                            <a:schemeClr val="dk2"/>
                          </a:solidFill>
                        </a:rPr>
                        <a:t>TD70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/>
                        <a:t>Interface d’un membre regardant la liste des covoiturages existants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/>
                        <a:t>Clic sur un covoiturage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/>
                        <a:t>Affichage des détails du bon covoiturage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fr" sz="800">
                          <a:solidFill>
                            <a:schemeClr val="dk2"/>
                          </a:solidFill>
                        </a:rPr>
                        <a:t>TD71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/>
                        <a:t>Interface d’un membre regardant un covoiturage où il reste au moins une place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/>
                        <a:t>Clic sur rejoindre le covoiturage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/>
                        <a:t>Notification au conducteur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fr" sz="800">
                          <a:solidFill>
                            <a:schemeClr val="dk2"/>
                          </a:solidFill>
                        </a:rPr>
                        <a:t>TD72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/>
                        <a:t>Interface d’un membre ayant rejoint un covoiturage, paiement non effectué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/>
                        <a:t>Effectue un paiement invalide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/>
                        <a:t>Affichage d’un message d’erreur</a:t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Poppins"/>
                <a:ea typeface="Poppins"/>
                <a:cs typeface="Poppins"/>
                <a:sym typeface="Poppins"/>
              </a:rPr>
              <a:t>Mise en place de tests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7" name="Google Shape;167;p30"/>
          <p:cNvSpPr txBox="1"/>
          <p:nvPr>
            <p:ph idx="1" type="body"/>
          </p:nvPr>
        </p:nvSpPr>
        <p:spPr>
          <a:xfrm>
            <a:off x="2400250" y="1211350"/>
            <a:ext cx="5705400" cy="325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100">
                <a:solidFill>
                  <a:srgbClr val="FFAF13"/>
                </a:solidFill>
                <a:latin typeface="Poppins"/>
                <a:ea typeface="Poppins"/>
                <a:cs typeface="Poppins"/>
                <a:sym typeface="Poppins"/>
              </a:rPr>
              <a:t>Réalisations :</a:t>
            </a:r>
            <a:endParaRPr b="1" sz="2100">
              <a:solidFill>
                <a:srgbClr val="FFAF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2734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fr" sz="1100" u="sng">
                <a:latin typeface="Arial"/>
                <a:ea typeface="Arial"/>
                <a:cs typeface="Arial"/>
                <a:sym typeface="Arial"/>
              </a:rPr>
              <a:t>Tests backend :</a:t>
            </a:r>
            <a:r>
              <a:rPr lang="fr" sz="1100">
                <a:latin typeface="Arial"/>
                <a:ea typeface="Arial"/>
                <a:cs typeface="Arial"/>
                <a:sym typeface="Arial"/>
              </a:rPr>
              <a:t> node:test + supertest, avec une vraie base MongoDB temporaire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2734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fr" sz="1100" u="sng">
                <a:latin typeface="Arial"/>
                <a:ea typeface="Arial"/>
                <a:cs typeface="Arial"/>
                <a:sym typeface="Arial"/>
              </a:rPr>
              <a:t>Tests unitaires web :</a:t>
            </a:r>
            <a:r>
              <a:rPr lang="fr" sz="1100">
                <a:latin typeface="Arial"/>
                <a:ea typeface="Arial"/>
                <a:cs typeface="Arial"/>
                <a:sym typeface="Arial"/>
              </a:rPr>
              <a:t> Vitest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2734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fr" sz="1100" u="sng">
                <a:latin typeface="Arial"/>
                <a:ea typeface="Arial"/>
                <a:cs typeface="Arial"/>
                <a:sym typeface="Arial"/>
              </a:rPr>
              <a:t>Tests fonctionnels web :</a:t>
            </a:r>
            <a:r>
              <a:rPr lang="fr" sz="1100">
                <a:latin typeface="Arial"/>
                <a:ea typeface="Arial"/>
                <a:cs typeface="Arial"/>
                <a:sym typeface="Arial"/>
              </a:rPr>
              <a:t> Playwright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2734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fr" sz="1100" u="sng">
                <a:latin typeface="Arial"/>
                <a:ea typeface="Arial"/>
                <a:cs typeface="Arial"/>
                <a:sym typeface="Arial"/>
              </a:rPr>
              <a:t>Tests unitaires app :</a:t>
            </a:r>
            <a:r>
              <a:rPr lang="fr" sz="1100">
                <a:latin typeface="Arial"/>
                <a:ea typeface="Arial"/>
                <a:cs typeface="Arial"/>
                <a:sym typeface="Arial"/>
              </a:rPr>
              <a:t> flutter_test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2734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fr" sz="1100" u="sng">
                <a:latin typeface="Arial"/>
                <a:ea typeface="Arial"/>
                <a:cs typeface="Arial"/>
                <a:sym typeface="Arial"/>
              </a:rPr>
              <a:t>Tests fonctionnels app :</a:t>
            </a:r>
            <a:r>
              <a:rPr lang="fr" sz="1100">
                <a:latin typeface="Arial"/>
                <a:ea typeface="Arial"/>
                <a:cs typeface="Arial"/>
                <a:sym typeface="Arial"/>
              </a:rPr>
              <a:t> integration_test (émulateur Android en CI)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2734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fr" sz="1100" u="sng">
                <a:latin typeface="Arial"/>
                <a:ea typeface="Arial"/>
                <a:cs typeface="Arial"/>
                <a:sym typeface="Arial"/>
              </a:rPr>
              <a:t>Tests API et contrat :</a:t>
            </a:r>
            <a:r>
              <a:rPr lang="fr" sz="1100">
                <a:latin typeface="Arial"/>
                <a:ea typeface="Arial"/>
                <a:cs typeface="Arial"/>
                <a:sym typeface="Arial"/>
              </a:rPr>
              <a:t> validation OpenAPI des requêtes et réponses, détection des ruptures de contrat (oasdiff)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2734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fr" sz="1100" u="sng">
                <a:latin typeface="Arial"/>
                <a:ea typeface="Arial"/>
                <a:cs typeface="Arial"/>
                <a:sym typeface="Arial"/>
              </a:rPr>
              <a:t>Faux back / vrai back :</a:t>
            </a:r>
            <a:r>
              <a:rPr lang="fr" sz="1100">
                <a:latin typeface="Arial"/>
                <a:ea typeface="Arial"/>
                <a:cs typeface="Arial"/>
                <a:sym typeface="Arial"/>
              </a:rPr>
              <a:t> chaque test fonctionnel tourne avec les deux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2734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fr" sz="1100" u="sng">
                <a:latin typeface="Arial"/>
                <a:ea typeface="Arial"/>
                <a:cs typeface="Arial"/>
                <a:sym typeface="Arial"/>
              </a:rPr>
              <a:t>Accessibilité :</a:t>
            </a:r>
            <a:r>
              <a:rPr lang="fr" sz="1100">
                <a:latin typeface="Arial"/>
                <a:ea typeface="Arial"/>
                <a:cs typeface="Arial"/>
                <a:sym typeface="Arial"/>
              </a:rPr>
              <a:t> axe-core (web), meetsGuideline (app)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2734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fr" sz="1100" u="sng">
                <a:latin typeface="Arial"/>
                <a:ea typeface="Arial"/>
                <a:cs typeface="Arial"/>
                <a:sym typeface="Arial"/>
              </a:rPr>
              <a:t>Couverture de tests :</a:t>
            </a:r>
            <a:r>
              <a:rPr lang="fr" sz="1100">
                <a:latin typeface="Arial"/>
                <a:ea typeface="Arial"/>
                <a:cs typeface="Arial"/>
                <a:sym typeface="Arial"/>
              </a:rPr>
              <a:t> seuil minimum de 80 %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2734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fr" sz="1100" u="sng">
                <a:latin typeface="Arial"/>
                <a:ea typeface="Arial"/>
                <a:cs typeface="Arial"/>
                <a:sym typeface="Arial"/>
              </a:rPr>
              <a:t>Qualité du code :</a:t>
            </a:r>
            <a:r>
              <a:rPr lang="fr" sz="1100">
                <a:latin typeface="Arial"/>
                <a:ea typeface="Arial"/>
                <a:cs typeface="Arial"/>
                <a:sym typeface="Arial"/>
              </a:rPr>
              <a:t> ESLint (back et web), flutter analyze (app), Prettier et dart format, CodeQL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2734" lvl="0" marL="457200" rtl="0" algn="l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SzPct val="100000"/>
              <a:buFont typeface="Arial"/>
              <a:buChar char="●"/>
            </a:pPr>
            <a:r>
              <a:rPr lang="fr" sz="1100" u="sng">
                <a:latin typeface="Arial"/>
                <a:ea typeface="Arial"/>
                <a:cs typeface="Arial"/>
                <a:sym typeface="Arial"/>
              </a:rPr>
              <a:t>Intégration continue :</a:t>
            </a:r>
            <a:r>
              <a:rPr lang="fr" sz="1100">
                <a:latin typeface="Arial"/>
                <a:ea typeface="Arial"/>
                <a:cs typeface="Arial"/>
                <a:sym typeface="Arial"/>
              </a:rPr>
              <a:t> GitHub Actions, checks obligatoires avant fusion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Poppins"/>
                <a:ea typeface="Poppins"/>
                <a:cs typeface="Poppins"/>
                <a:sym typeface="Poppins"/>
              </a:rPr>
              <a:t>MCD - Association 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3" name="Google Shape;173;p31"/>
          <p:cNvSpPr txBox="1"/>
          <p:nvPr>
            <p:ph idx="1" type="body"/>
          </p:nvPr>
        </p:nvSpPr>
        <p:spPr>
          <a:xfrm>
            <a:off x="359100" y="1337400"/>
            <a:ext cx="2323200" cy="28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100">
                <a:solidFill>
                  <a:srgbClr val="FFAF13"/>
                </a:solidFill>
                <a:latin typeface="Poppins"/>
                <a:ea typeface="Poppins"/>
                <a:cs typeface="Poppins"/>
                <a:sym typeface="Poppins"/>
              </a:rPr>
              <a:t>Réalisations :</a:t>
            </a:r>
            <a:endParaRPr b="1" sz="2100">
              <a:solidFill>
                <a:srgbClr val="FFAF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fr" sz="1600">
                <a:latin typeface="Poppins"/>
                <a:ea typeface="Poppins"/>
                <a:cs typeface="Poppins"/>
                <a:sym typeface="Poppins"/>
              </a:rPr>
              <a:t>Globale :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600">
                <a:latin typeface="Poppins"/>
                <a:ea typeface="Poppins"/>
                <a:cs typeface="Poppins"/>
                <a:sym typeface="Poppins"/>
              </a:rPr>
              <a:t>- Association 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600">
                <a:latin typeface="Poppins"/>
                <a:ea typeface="Poppins"/>
                <a:cs typeface="Poppins"/>
                <a:sym typeface="Poppins"/>
              </a:rPr>
              <a:t>- Groupe 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600">
                <a:latin typeface="Poppins"/>
                <a:ea typeface="Poppins"/>
                <a:cs typeface="Poppins"/>
                <a:sym typeface="Poppins"/>
              </a:rPr>
              <a:t>- Évènement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4" name="Google Shape;17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4250" y="1081912"/>
            <a:ext cx="5793596" cy="362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2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Poppins"/>
                <a:ea typeface="Poppins"/>
                <a:cs typeface="Poppins"/>
                <a:sym typeface="Poppins"/>
              </a:rPr>
              <a:t>Maquettes 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0" name="Google Shape;180;p32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675" y="1211350"/>
            <a:ext cx="2171899" cy="3216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2" title="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9875" y="1211350"/>
            <a:ext cx="1864264" cy="3216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2" title="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2149" y="1211350"/>
            <a:ext cx="2348338" cy="321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Poppins"/>
                <a:ea typeface="Poppins"/>
                <a:cs typeface="Poppins"/>
                <a:sym typeface="Poppins"/>
              </a:rPr>
              <a:t>Maquettes 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8" name="Google Shape;188;p33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8525" y="1211353"/>
            <a:ext cx="1574725" cy="313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3" title="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2600" y="1211350"/>
            <a:ext cx="1574725" cy="3134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3" title="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36675" y="1211350"/>
            <a:ext cx="1574725" cy="3134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33" title="5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40750" y="1211350"/>
            <a:ext cx="1574725" cy="3134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Poppins"/>
                <a:ea typeface="Poppins"/>
                <a:cs typeface="Poppins"/>
                <a:sym typeface="Poppins"/>
              </a:rPr>
              <a:t>Prochaines étapes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7" name="Google Shape;197;p3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100">
                <a:solidFill>
                  <a:srgbClr val="FFAF13"/>
                </a:solidFill>
                <a:latin typeface="Poppins"/>
                <a:ea typeface="Poppins"/>
                <a:cs typeface="Poppins"/>
                <a:sym typeface="Poppins"/>
              </a:rPr>
              <a:t>Tâche</a:t>
            </a:r>
            <a:r>
              <a:rPr b="1" lang="fr" sz="2100">
                <a:solidFill>
                  <a:srgbClr val="FFAF13"/>
                </a:solidFill>
                <a:latin typeface="Poppins"/>
                <a:ea typeface="Poppins"/>
                <a:cs typeface="Poppins"/>
                <a:sym typeface="Poppins"/>
              </a:rPr>
              <a:t> 1</a:t>
            </a:r>
            <a:endParaRPr b="1" sz="2100">
              <a:solidFill>
                <a:srgbClr val="FFAF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latin typeface="Poppins"/>
                <a:ea typeface="Poppins"/>
                <a:cs typeface="Poppins"/>
                <a:sym typeface="Poppins"/>
              </a:rPr>
              <a:t>Finir le schéma de la BDD et faire les diagrammes ULM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100">
                <a:solidFill>
                  <a:srgbClr val="FFAF13"/>
                </a:solidFill>
                <a:latin typeface="Poppins"/>
                <a:ea typeface="Poppins"/>
                <a:cs typeface="Poppins"/>
                <a:sym typeface="Poppins"/>
              </a:rPr>
              <a:t>Tâche</a:t>
            </a:r>
            <a:r>
              <a:rPr b="1" lang="fr" sz="2100">
                <a:solidFill>
                  <a:srgbClr val="FFAF13"/>
                </a:solidFill>
                <a:latin typeface="Poppins"/>
                <a:ea typeface="Poppins"/>
                <a:cs typeface="Poppins"/>
                <a:sym typeface="Poppins"/>
              </a:rPr>
              <a:t> 2</a:t>
            </a:r>
            <a:endParaRPr b="1" sz="2100">
              <a:solidFill>
                <a:srgbClr val="FFAF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latin typeface="Poppins"/>
                <a:ea typeface="Poppins"/>
                <a:cs typeface="Poppins"/>
                <a:sym typeface="Poppins"/>
              </a:rPr>
              <a:t>Mettre en place les environnements de développement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2100">
                <a:solidFill>
                  <a:srgbClr val="FFAF13"/>
                </a:solidFill>
                <a:latin typeface="Poppins"/>
                <a:ea typeface="Poppins"/>
                <a:cs typeface="Poppins"/>
                <a:sym typeface="Poppins"/>
              </a:rPr>
              <a:t>Tâche</a:t>
            </a:r>
            <a:r>
              <a:rPr b="1" lang="fr" sz="2100">
                <a:solidFill>
                  <a:srgbClr val="FFAF13"/>
                </a:solidFill>
                <a:latin typeface="Poppins"/>
                <a:ea typeface="Poppins"/>
                <a:cs typeface="Poppins"/>
                <a:sym typeface="Poppins"/>
              </a:rPr>
              <a:t> 3</a:t>
            </a:r>
            <a:endParaRPr b="1" sz="2100">
              <a:solidFill>
                <a:srgbClr val="FFAF1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8750"/>
              <a:buFont typeface="Arial"/>
              <a:buNone/>
            </a:pPr>
            <a:r>
              <a:rPr lang="fr" sz="1600">
                <a:latin typeface="Poppins"/>
                <a:ea typeface="Poppins"/>
                <a:cs typeface="Poppins"/>
                <a:sym typeface="Poppins"/>
              </a:rPr>
              <a:t>Développement fonctionnalités : comptes + quelques pages du site vitrine 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